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</p:sldMasterIdLst>
  <p:notesMasterIdLst>
    <p:notesMasterId r:id="rId2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>
      <p:cViewPr>
        <p:scale>
          <a:sx n="85" d="100"/>
          <a:sy n="85" d="100"/>
        </p:scale>
        <p:origin x="696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Plain-English requirements — the checklist the next slides (today, Flink, Continuum) are judged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 = Solace Micro-Integration copies mesh events into MySQL; a custom app polls the database on a timer to work out and serve answers. Works, but fails most of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Flink is capable but heavy: a coding project you staff and run, no simple way to ask it questions, connections wired by hand. The customer's own words carry the point. Quotes are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Payoff, mapped to the demo (plain English): two live Solace feeds combined into one always-current view per region, kept correct on its own, published back to Solace AND available to query — so it triggers the AI agent and answers the dashboard. One shared building block; every checklist item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png"/><Relationship Id="rId9" Type="http://schemas.openxmlformats.org/officeDocument/2006/relationships/image" Target="../media/image1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30.png"/><Relationship Id="rId7" Type="http://schemas.microsoft.com/office/2007/relationships/hdphoto" Target="../media/hdphoto1.wdp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25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437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373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8040000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4005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59E6556-57B1-B408-D804-9FA5BC1308C4}"/>
              </a:ext>
            </a:extLst>
          </p:cNvPr>
          <p:cNvGrpSpPr/>
          <p:nvPr userDrawn="1"/>
        </p:nvGrpSpPr>
        <p:grpSpPr>
          <a:xfrm>
            <a:off x="6888000" y="332656"/>
            <a:ext cx="6276674" cy="5843298"/>
            <a:chOff x="5797318" y="332656"/>
            <a:chExt cx="6276674" cy="5843298"/>
          </a:xfrm>
        </p:grpSpPr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969F7A7C-F56B-5EA2-CEDB-C3018FB3E56D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026AA2B3-ADD5-9E91-EE90-8CA8079DF07E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6F980C-D371-51A4-BFAF-0D988442E896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4D33AA-17A5-AD3C-47CB-C235523F6E95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C3E93C-3A6F-6643-610C-12296CC8C6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094DF1C-A969-A8D9-6C37-6553A2B71AFC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3329D2-BC94-696A-4C35-CDDD8197EB39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3591DD-F3A8-A03D-EB5B-A0EB18871B7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196927-BBB7-FF95-A5F7-090E1F89D51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9BD377A2-FF86-B752-6A7B-0C7B42F2A65E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A819162-4F92-9CE1-266D-C3036C094DBE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228DA33-39B2-4FAA-AE60-99CB558A6DCB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766673F-117F-B1A0-5E0C-011B96A80452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BB9DD75-E623-1063-4AF7-B388B7C36A44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0A0E295-63B7-6BCC-483C-4BC95EFEE61C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A4E385-FF66-6719-4CB5-DC19293047E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082CB-E60C-66BA-112C-7E110A2EF0B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4426DAB-EC49-97B6-8BAA-250B2F3420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EFF8D-C896-9FCB-CCD9-055E2DE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438CF-A668-47D4-D56F-CEE9B521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311E4-A084-8644-4A2C-81E8B32124A6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96703DE-8690-EFFB-7268-F2E9AF457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ACC7893-2CFD-6A2C-B065-D787A12A3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FA95311-77E2-E862-BFF5-6934BE406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665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60000" y="-1"/>
            <a:ext cx="5232000" cy="685798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4C4D-992C-08AD-7433-20C760BC8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4FA-2BB1-E76D-62AA-FDCD0FCA0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4CC65-E1B1-5D09-E60C-9501318FFDE8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CB8EB12-83EE-B460-B9C4-FB3C1BED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5929550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670548-7E5E-8263-0D27-D6C602F15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28CD543-D355-2BFE-6222-6DB45B484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89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60000" y="-1"/>
            <a:ext cx="5232000" cy="685798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80E0-3E50-3DF4-4445-AE33835012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DA5D-C211-08C0-E0A0-CB9651D538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F7999-AF75-0EA8-FBAC-B1B74CC6CE42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71676F4-CEB5-1E44-9AF0-47F07C450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8CF5182-773F-3E58-77E1-56F3C334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5F2774E-D112-1740-985F-CB14C365A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825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728739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2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een 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16BBF-AD11-64D7-E0AF-8D45D24760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61A1CB-D9F9-A727-40EB-A2C367E865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7E035C5-6C77-1F49-38D4-CA09F461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728739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8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53A11D-F30A-BF3A-76C0-84C62D52A1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F0C7C3-25A3-6F8C-4351-C7890DFA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866357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1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2676" r="25349"/>
          <a:stretch>
            <a:fillRect/>
          </a:stretch>
        </p:blipFill>
        <p:spPr>
          <a:xfrm>
            <a:off x="8832001" y="-4"/>
            <a:ext cx="3360000" cy="384454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FBC019-A227-E8F6-3BFB-71012198A9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5999" y="1773000"/>
            <a:ext cx="7383799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8BD-E377-EC3D-6E62-BF2DF8474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620938"/>
            <a:ext cx="8352212" cy="1008062"/>
          </a:xfrm>
        </p:spPr>
        <p:txBody>
          <a:bodyPr>
            <a:no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BB6B9-1EF2-26D5-D3E9-7925E8A60494}"/>
              </a:ext>
            </a:extLst>
          </p:cNvPr>
          <p:cNvSpPr txBox="1"/>
          <p:nvPr userDrawn="1"/>
        </p:nvSpPr>
        <p:spPr>
          <a:xfrm>
            <a:off x="2639238" y="1041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0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70DEDD-8457-BBBA-6DFE-793D380F2E92}"/>
              </a:ext>
            </a:extLst>
          </p:cNvPr>
          <p:cNvSpPr txBox="1"/>
          <p:nvPr userDrawn="1"/>
        </p:nvSpPr>
        <p:spPr>
          <a:xfrm>
            <a:off x="1134787" y="393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6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8A18B98-04E6-634D-8D70-7970E66791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6000" y="1773000"/>
            <a:ext cx="7848000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1EE761-1C34-46D5-9FDD-063C66D50B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676" r="25349"/>
          <a:stretch>
            <a:fillRect/>
          </a:stretch>
        </p:blipFill>
        <p:spPr>
          <a:xfrm>
            <a:off x="8832000" y="-5"/>
            <a:ext cx="3360000" cy="384454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69D0B96-9BFD-1FA2-5B35-06899B4D12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168E20C-EE07-5AE1-6619-37388EC668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BB576-AEB0-54EE-C12B-A1AEF658EE5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10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E4E56B-8402-AAB4-DD13-CB54D38026C6}"/>
              </a:ext>
            </a:extLst>
          </p:cNvPr>
          <p:cNvSpPr txBox="1"/>
          <p:nvPr userDrawn="1"/>
        </p:nvSpPr>
        <p:spPr>
          <a:xfrm>
            <a:off x="1134787" y="393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6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E36D60D-81F0-65D5-9F1D-7739CCD57D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6000" y="1773000"/>
            <a:ext cx="7776000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40A74B2-3261-15AC-14BC-F61DE7C75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676" r="25349"/>
          <a:stretch>
            <a:fillRect/>
          </a:stretch>
        </p:blipFill>
        <p:spPr>
          <a:xfrm>
            <a:off x="8832000" y="-5"/>
            <a:ext cx="3360000" cy="384454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313176C-ECD2-C67D-831E-08EC708D9C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CD39DCF-98C5-AC5D-49A2-3A4AAECA4B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67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 Guid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367261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378244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664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32D2F1-B120-2024-013D-55E7B8C3274D}"/>
              </a:ext>
            </a:extLst>
          </p:cNvPr>
          <p:cNvSpPr/>
          <p:nvPr userDrawn="1"/>
        </p:nvSpPr>
        <p:spPr>
          <a:xfrm>
            <a:off x="0" y="0"/>
            <a:ext cx="8991600" cy="1076325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Calibri"/>
              <a:sym typeface="Gill Sa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BDCBCE-319D-3EBF-C0B2-1BF158C95EF3}"/>
              </a:ext>
            </a:extLst>
          </p:cNvPr>
          <p:cNvSpPr/>
          <p:nvPr userDrawn="1"/>
        </p:nvSpPr>
        <p:spPr>
          <a:xfrm>
            <a:off x="0" y="6237288"/>
            <a:ext cx="12192000" cy="653030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"/>
                <a:ea typeface="+mn-ea"/>
                <a:cs typeface="+mn-cs"/>
                <a:sym typeface="Gill Sans"/>
              </a:rPr>
              <a:t>NOT FOR EXTERNAL USE – DELETE THIS SLIDE BEFORE USING WITH A PROSPECT!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Calibri"/>
              <a:sym typeface="Gill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>
            <a:lvl1pPr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23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8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85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4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42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w/ Lef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00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835200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3200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94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/ Lef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00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3192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3520" y="1341439"/>
            <a:ext cx="384048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3200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60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Lef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-1" y="1052513"/>
            <a:ext cx="4114800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4862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-1" y="1053000"/>
            <a:ext cx="4114800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3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Left Sidebar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5486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0000" y="1341439"/>
            <a:ext cx="2859242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21464" y="1341439"/>
            <a:ext cx="2806536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5486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4752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87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3913770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385444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336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408912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407774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00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1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/ Righ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568800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10AAB02C-5F77-5304-774E-0846E7B1F6AE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print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01" t="8547" r="2359" b="4190"/>
          <a:stretch>
            <a:fillRect/>
          </a:stretch>
        </p:blipFill>
        <p:spPr>
          <a:xfrm>
            <a:off x="6848363" y="750888"/>
            <a:ext cx="5486400" cy="5486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98351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6240000" y="0"/>
            <a:ext cx="595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32712"/>
            <a:ext cx="5545137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2518689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33312" y="1341438"/>
            <a:ext cx="2518689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72000" y="1341438"/>
            <a:ext cx="5184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48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1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842368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803695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05565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066892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46CB24CE-A94C-56EE-FD12-4AF6B36586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368762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3D1EA570-D6FA-8AE6-34D2-8B48A4FCC4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330089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1C152C6-4B50-CF90-C6A1-6121AC6FF96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631959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BE9CEB31-6907-B191-42A7-4DC4609DBEA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593286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2563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2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423051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84377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6930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28256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46CB24CE-A94C-56EE-FD12-4AF6B36586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110808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3D1EA570-D6FA-8AE6-34D2-8B48A4FCC4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72134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5175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2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400923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362249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22674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84000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0315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1" y="2316956"/>
            <a:ext cx="526215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533950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350675" y="2316956"/>
            <a:ext cx="526215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12002" y="1341161"/>
            <a:ext cx="533950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996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2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30" y="1341116"/>
            <a:ext cx="5184496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12000" y="1340769"/>
            <a:ext cx="5182870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6030" y="3789040"/>
            <a:ext cx="5184496" cy="24482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12000" y="3789040"/>
            <a:ext cx="5182870" cy="24482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16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3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5777" y="1341463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39585" y="1341116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777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39585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001" y="1341116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184001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947056-0F06-C2EC-9F22-37F9D907D671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4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3009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009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30712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30712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39024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39024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47336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336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960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132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57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2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5" y="1341438"/>
            <a:ext cx="5257124" cy="4895850"/>
          </a:xfrm>
        </p:spPr>
        <p:txBody>
          <a:bodyPr r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3493" y="1340757"/>
            <a:ext cx="5255992" cy="4896308"/>
          </a:xfrm>
        </p:spPr>
        <p:txBody>
          <a:bodyPr r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4344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7825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4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56575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9B3FAB-B840-DB7F-EC3F-865B1970F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5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01C4E9-7069-CD55-73FA-EAA549D1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EA542A-8BAB-A2C4-D243-992E385D0629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41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theme" Target="../theme/theme2.xml"/><Relationship Id="rId29" Type="http://schemas.openxmlformats.org/officeDocument/2006/relationships/image" Target="../media/image1.png"/><Relationship Id="rId30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B166F3-B7E3-8F7D-DD55-374CDD77829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11089754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1438"/>
            <a:ext cx="11088000" cy="47518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D63A-3DCF-6F76-37D2-BB104784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000" y="6381000"/>
            <a:ext cx="1512000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E529-5FD5-3C60-3388-392DEFE0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708" r:id="rId3"/>
    <p:sldLayoutId id="2147483710" r:id="rId4"/>
    <p:sldLayoutId id="2147483717" r:id="rId5"/>
    <p:sldLayoutId id="2147483716" r:id="rId6"/>
    <p:sldLayoutId id="2147483703" r:id="rId7"/>
    <p:sldLayoutId id="2147483718" r:id="rId8"/>
    <p:sldLayoutId id="2147483783" r:id="rId9"/>
    <p:sldLayoutId id="2147483784" r:id="rId1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38" orient="horz" pos="4065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4320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</a:t>
            </a:r>
          </a:p>
          <a:p>
            <a:pPr lvl="4"/>
            <a:r>
              <a:rPr lang="en-US" dirty="0"/>
              <a:t>Fifth</a:t>
            </a:r>
          </a:p>
          <a:p>
            <a:pPr lvl="5"/>
            <a:r>
              <a:rPr lang="en-US" dirty="0"/>
              <a:t>Sixth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bg1"/>
                </a:solidFill>
                <a:latin typeface="+mj-lt"/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678" r:id="rId2"/>
    <p:sldLayoutId id="2147483681" r:id="rId3"/>
    <p:sldLayoutId id="2147483682" r:id="rId4"/>
    <p:sldLayoutId id="2147483752" r:id="rId5"/>
    <p:sldLayoutId id="2147483782" r:id="rId6"/>
    <p:sldLayoutId id="2147483809" r:id="rId7"/>
    <p:sldLayoutId id="2147483750" r:id="rId8"/>
    <p:sldLayoutId id="2147483754" r:id="rId9"/>
    <p:sldLayoutId id="2147483684" r:id="rId10"/>
    <p:sldLayoutId id="2147483751" r:id="rId11"/>
    <p:sldLayoutId id="2147483810" r:id="rId12"/>
    <p:sldLayoutId id="2147483755" r:id="rId13"/>
    <p:sldLayoutId id="2147483769" r:id="rId14"/>
    <p:sldLayoutId id="2147483779" r:id="rId15"/>
    <p:sldLayoutId id="2147483780" r:id="rId16"/>
    <p:sldLayoutId id="2147483781" r:id="rId17"/>
    <p:sldLayoutId id="2147483690" r:id="rId18"/>
    <p:sldLayoutId id="2147483689" r:id="rId19"/>
    <p:sldLayoutId id="2147483692" r:id="rId20"/>
    <p:sldLayoutId id="2147483694" r:id="rId21"/>
    <p:sldLayoutId id="2147483696" r:id="rId22"/>
    <p:sldLayoutId id="2147483697" r:id="rId23"/>
    <p:sldLayoutId id="2147483698" r:id="rId24"/>
    <p:sldLayoutId id="2147483753" r:id="rId25"/>
    <p:sldLayoutId id="2147483705" r:id="rId26"/>
    <p:sldLayoutId id="2147483699" r:id="rId2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555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61963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3929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  <p15:guide id="43" orient="horz" pos="406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Should the Streaming Data Solution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>
          <a:xfrm>
            <a:off x="548640" y="1874519"/>
            <a:ext cx="5477256" cy="4206240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Plug straight into Solace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take events in, and send answers back out when they matter.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Remember things and stay up on its own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no separate database to run.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Answer AI on demand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hand it a ready-made picture, or alert it when things change.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Combine several live feeds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show separate systems as one picture, in real time.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Stay current and fix itself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update as things happen; never a stale snapshot.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Never lose or double-count data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every event handled once, reliably.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>
          <a:xfrm>
            <a:off x="6172200" y="1874519"/>
            <a:ext cx="5468112" cy="4206240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Connect to Nisshi (formerly Tansu)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out of the box.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Connect to lots of other sources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databases, files, data lakes, and other live feeds.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Be designed in Event Portal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map the important business facts and how they flow, and keep them governed.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Be built by people who know SQL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your analysts, not a specialized streaming team.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Run as one shared building block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not a new app for every use case.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Be governed and easy to watch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clear data, controlled access, simple to monitor.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C895"/>
                </a:solidFill>
                <a:latin typeface="Space Mono"/>
              </a:rPr>
              <a:t>EVALUATION  · 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77256" cy="38404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pace Mono"/>
              </a:rPr>
              <a:t>WHAT IT MUST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468112" cy="384048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3213B"/>
                </a:solidFill>
                <a:latin typeface="Space Mono"/>
              </a:rPr>
              <a:t>WHAT IT CONNECTS TO &amp; 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95"/>
                </a:solidFill>
                <a:latin typeface="Figtree"/>
              </a:rPr>
              <a:t>The checklist we hold every option 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Clients Do This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C895"/>
                </a:solidFill>
                <a:latin typeface="Space Mono"/>
              </a:rPr>
              <a:t>THE STATUS QUO  · 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828800" cy="105156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Figtree"/>
              </a:rPr>
              <a:t>Solace
(events)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04872" y="1783080"/>
            <a:ext cx="429768" cy="32004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2072" y="1417320"/>
            <a:ext cx="1828800" cy="105156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Figtree"/>
              </a:rPr>
              <a:t>Micro-Integration
(copies events out)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18304" y="1783080"/>
            <a:ext cx="429768" cy="32004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5504" y="1417320"/>
            <a:ext cx="1828800" cy="1051560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93B5F"/>
                </a:solidFill>
                <a:latin typeface="Figtree"/>
              </a:rPr>
              <a:t>MySQL
(stores them)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31736" y="1783080"/>
            <a:ext cx="429768" cy="32004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88936" y="1417320"/>
            <a:ext cx="1828800" cy="1051560"/>
          </a:xfrm>
          <a:prstGeom prst="roundRect">
            <a:avLst/>
          </a:prstGeom>
          <a:solidFill>
            <a:srgbClr val="FCA829"/>
          </a:solidFill>
          <a:ln w="12700">
            <a:solidFill>
              <a:srgbClr val="FCA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3213B"/>
                </a:solidFill>
                <a:latin typeface="Figtree"/>
              </a:rPr>
              <a:t>Custom app
(checks on a timer)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45168" y="1783080"/>
            <a:ext cx="429768" cy="32004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02368" y="1417320"/>
            <a:ext cx="1828800" cy="105156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Figtree"/>
              </a:rPr>
              <a:t>People &amp; AI
(get answers)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5420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A829"/>
                </a:solidFill>
                <a:latin typeface="Space Mono"/>
              </a:rPr>
              <a:t>checks on a timer — always a step behind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3063240"/>
            <a:ext cx="3657600" cy="384048"/>
          </a:xfrm>
          <a:prstGeom prst="roundRect">
            <a:avLst/>
          </a:prstGeom>
          <a:solidFill>
            <a:srgbClr val="FCA829"/>
          </a:solidFill>
          <a:ln w="12700">
            <a:solidFill>
              <a:srgbClr val="FCA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3213B"/>
                </a:solidFill>
                <a:latin typeface="Space Mono"/>
              </a:rPr>
              <a:t>WHAT IT COSTS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FCA829"/>
                </a:solidFill>
                <a:latin typeface="Figtree"/>
              </a:rPr>
              <a:t>✗  Always a step behind — </a:t>
            </a:r>
            <a:r>
              <a:rPr sz="1300">
                <a:solidFill>
                  <a:srgbClr val="093B5F"/>
                </a:solidFill>
                <a:latin typeface="Figtree"/>
              </a:rPr>
              <a:t>the app only checks now and then, so answers are old.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CA829"/>
                </a:solidFill>
                <a:latin typeface="Figtree"/>
              </a:rPr>
              <a:t>✗  Feeds aren’t combined live — </a:t>
            </a:r>
            <a:r>
              <a:rPr sz="1300">
                <a:solidFill>
                  <a:srgbClr val="093B5F"/>
                </a:solidFill>
                <a:latin typeface="Figtree"/>
              </a:rPr>
              <a:t>someone has to stitch them together in code.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CA829"/>
                </a:solidFill>
                <a:latin typeface="Figtree"/>
              </a:rPr>
              <a:t>✗  Yet another database to run — </a:t>
            </a:r>
            <a:r>
              <a:rPr sz="1300">
                <a:solidFill>
                  <a:srgbClr val="093B5F"/>
                </a:solidFill>
                <a:latin typeface="Figtree"/>
              </a:rPr>
              <a:t>storing it and keeping it up is your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FCA829"/>
                </a:solidFill>
                <a:latin typeface="Figtree"/>
              </a:rPr>
              <a:t>✗  An app for every use case — </a:t>
            </a:r>
            <a:r>
              <a:rPr sz="1300">
                <a:solidFill>
                  <a:srgbClr val="093B5F"/>
                </a:solidFill>
                <a:latin typeface="Figtree"/>
              </a:rPr>
              <a:t>each new question means building and running another one.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CA829"/>
                </a:solidFill>
                <a:latin typeface="Figtree"/>
              </a:rPr>
              <a:t>✗  Nothing comes to you — </a:t>
            </a:r>
            <a:r>
              <a:rPr sz="1300">
                <a:solidFill>
                  <a:srgbClr val="093B5F"/>
                </a:solidFill>
                <a:latin typeface="Figtree"/>
              </a:rPr>
              <a:t>everyone has to keep asking; nothing wakes the AI.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CA829"/>
                </a:solidFill>
                <a:latin typeface="Figtree"/>
              </a:rPr>
              <a:t>✗  You own getting it right — </a:t>
            </a:r>
            <a:r>
              <a:rPr sz="1300">
                <a:solidFill>
                  <a:srgbClr val="093B5F"/>
                </a:solidFill>
                <a:latin typeface="Figtree"/>
              </a:rPr>
              <a:t>no built-in guarantees, and it won’t fix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93B5F"/>
                </a:solidFill>
                <a:latin typeface="Figtree"/>
              </a:rPr>
              <a:t>Every box ticked halfway, by hand — and always a step behind.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Flink Would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>
          <a:xfrm>
            <a:off x="548640" y="1874519"/>
            <a:ext cx="5477256" cy="411480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Write and deploy code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a programming project, plus a cluster to size and run.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Tune it by hand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lots of low-level settings only specialists understand.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No way to just ask it a question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you build a second system to serve answers.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Combining live feeds is the hard part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careful setup, and constant babysitting.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Specialists own it forever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not your analysts, and never a simple “turn it on.”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93B5F"/>
                </a:solidFill>
                <a:latin typeface="Figtree"/>
              </a:rPr>
              <a:t>Wire up every connection yourself — </a:t>
            </a:r>
            <a:r>
              <a:rPr sz="1250" b="0">
                <a:solidFill>
                  <a:srgbClr val="093B5F"/>
                </a:solidFill>
                <a:latin typeface="Figtree"/>
              </a:rPr>
              <a:t>no built-in Solace hookup or Event Portal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C895"/>
                </a:solidFill>
                <a:latin typeface="Space Mono"/>
              </a:rPr>
              <a:t>THE FLINK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77256" cy="38404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pace Mono"/>
              </a:rPr>
              <a:t>WHAT FLINK ASKS OF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468112" cy="384048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3213B"/>
                </a:solidFill>
                <a:latin typeface="Space Mono"/>
              </a:rPr>
              <a:t>IN THE CUSTOMER’S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330952" cy="1828800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0C895"/>
                </a:solidFill>
                <a:latin typeface="Space Mono"/>
              </a:rPr>
              <a:t>DIFFERENT TOOL</a:t>
            </a:r>
          </a:p>
          <a:p>
            <a:r>
              <a:rPr sz="1200">
                <a:solidFill>
                  <a:srgbClr val="093B5F"/>
                </a:solidFill>
                <a:latin typeface="Figtree"/>
              </a:rPr>
              <a:t>“[The engine] felt more like a real-time database, while Flink felt more like a developer-oriented stream processing platform… it would require more specialized engineering effort to build, operate, and maintain.”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91440" cy="1828800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3886200"/>
            <a:ext cx="5330952" cy="1828800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0C895"/>
                </a:solidFill>
                <a:latin typeface="Space Mono"/>
              </a:rPr>
              <a:t>DIFFERENT PEOPLE</a:t>
            </a:r>
          </a:p>
          <a:p>
            <a:r>
              <a:rPr sz="1200">
                <a:solidFill>
                  <a:srgbClr val="093B5F"/>
                </a:solidFill>
                <a:latin typeface="Figtree"/>
              </a:rPr>
              <a:t>“The SQL-first model… opens the door for business analysts comfortable with SQL to help build live data products… move faster instead of everything having to wait on specialized IT skills.”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86200"/>
            <a:ext cx="91440" cy="1828800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806440"/>
            <a:ext cx="5330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93B5F"/>
                </a:solidFill>
                <a:latin typeface="Figtree"/>
              </a:rPr>
              <a:t>— Enterprise Architect, Vancouver Airport Authority  (July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95"/>
                </a:solidFill>
                <a:latin typeface="Figtree"/>
              </a:rPr>
              <a:t>Flink can do most of this — but it’s a system you staff and run. Continuum is something you switch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Continuum Does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C895"/>
                </a:solidFill>
                <a:latin typeface="Space Mono"/>
              </a:rPr>
              <a:t>THE PAYOFF  ·  CONTINUUM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103120" cy="65836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Card transactions (live)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76272"/>
            <a:ext cx="2103120" cy="65836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Fraud-team alerts (live)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077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95"/>
                </a:solidFill>
                <a:latin typeface="Space Mono"/>
              </a:rPr>
              <a:t>IN FROM SOLACE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1965960"/>
            <a:ext cx="45720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417320"/>
            <a:ext cx="3017520" cy="1737360"/>
          </a:xfrm>
          <a:prstGeom prst="roundRect">
            <a:avLst/>
          </a:prstGeom>
          <a:solidFill>
            <a:srgbClr val="00C895"/>
          </a:solidFill>
          <a:ln w="28575">
            <a:solidFill>
              <a:srgbClr val="AB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3213B"/>
                </a:solidFill>
                <a:latin typeface="Figtree"/>
              </a:rPr>
              <a:t>Continuum</a:t>
            </a:r>
          </a:p>
          <a:p>
            <a:pPr algn="ctr"/>
            <a:r>
              <a:rPr sz="1200" b="0">
                <a:solidFill>
                  <a:srgbClr val="03213B"/>
                </a:solidFill>
                <a:latin typeface="Figtree"/>
              </a:rPr>
              <a:t>One always-current view of each region</a:t>
            </a:r>
          </a:p>
          <a:p>
            <a:pPr algn="ctr"/>
            <a:r>
              <a:rPr sz="1050" b="0">
                <a:solidFill>
                  <a:srgbClr val="03213B"/>
                </a:solidFill>
                <a:latin typeface="Figtree"/>
              </a:rPr>
              <a:t>last 60 seconds + the fraud team’s status, kept correct on its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46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93B5F"/>
                </a:solidFill>
                <a:latin typeface="Space Mono"/>
              </a:rPr>
              <a:t>ONE SHARED BUILDING BLOCK — NOT A PILE OF APPS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63640" y="1965960"/>
            <a:ext cx="45720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1737360"/>
            <a:ext cx="2194560" cy="109728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The answer goes back to Solace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Figtree"/>
              </a:rPr>
              <a:t>the moment it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077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95"/>
                </a:solidFill>
                <a:latin typeface="Space Mono"/>
              </a:rPr>
              <a:t>BACK TO SOLACE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06840" y="1965960"/>
            <a:ext cx="45720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9760" y="1417320"/>
            <a:ext cx="2103120" cy="65836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AI agent — acts 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176272"/>
            <a:ext cx="2103120" cy="65836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Figtree"/>
              </a:rPr>
              <a:t>Dashboards &amp; alerts — just 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3703320"/>
            <a:ext cx="3657600" cy="384048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3213B"/>
                </a:solidFill>
                <a:latin typeface="Space Mono"/>
              </a:rPr>
              <a:t>WHAT YOU 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C895"/>
                </a:solidFill>
                <a:latin typeface="Figtree"/>
              </a:rPr>
              <a:t>✓  Always current — </a:t>
            </a:r>
            <a:r>
              <a:rPr sz="1300">
                <a:solidFill>
                  <a:srgbClr val="093B5F"/>
                </a:solidFill>
                <a:latin typeface="Figtree"/>
              </a:rPr>
              <a:t>it updates itself the moment something changes; never a stale snapshot.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C895"/>
                </a:solidFill>
                <a:latin typeface="Figtree"/>
              </a:rPr>
              <a:t>✓  Combines feeds live — </a:t>
            </a:r>
            <a:r>
              <a:rPr sz="1300">
                <a:solidFill>
                  <a:srgbClr val="093B5F"/>
                </a:solidFill>
                <a:latin typeface="Figtree"/>
              </a:rPr>
              <a:t>two systems shown as one picture, automatically.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C895"/>
                </a:solidFill>
                <a:latin typeface="Figtree"/>
              </a:rPr>
              <a:t>✓  Remembers and stays up on its own — </a:t>
            </a:r>
            <a:r>
              <a:rPr sz="1300">
                <a:solidFill>
                  <a:srgbClr val="093B5F"/>
                </a:solidFill>
                <a:latin typeface="Figtree"/>
              </a:rPr>
              <a:t>no separate database to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519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C895"/>
                </a:solidFill>
                <a:latin typeface="Figtree"/>
              </a:rPr>
              <a:t>✓  One shared building block — </a:t>
            </a:r>
            <a:r>
              <a:rPr sz="1300">
                <a:solidFill>
                  <a:srgbClr val="093B5F"/>
                </a:solidFill>
                <a:latin typeface="Figtree"/>
              </a:rPr>
              <a:t>not a new app for every use case.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C895"/>
                </a:solidFill>
                <a:latin typeface="Figtree"/>
              </a:rPr>
              <a:t>✓  Comes to you or waits for you — </a:t>
            </a:r>
            <a:r>
              <a:rPr sz="1300">
                <a:solidFill>
                  <a:srgbClr val="093B5F"/>
                </a:solidFill>
                <a:latin typeface="Figtree"/>
              </a:rPr>
              <a:t>alert the AI the instant things change, or answer when asked.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C895"/>
                </a:solidFill>
                <a:latin typeface="Figtree"/>
              </a:rPr>
              <a:t>✓  Trustworthy by default — </a:t>
            </a:r>
            <a:r>
              <a:rPr sz="1300">
                <a:solidFill>
                  <a:srgbClr val="093B5F"/>
                </a:solidFill>
                <a:latin typeface="Figtree"/>
              </a:rPr>
              <a:t>nothing double-counted, nothing missed; it fixes itself.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95"/>
                </a:solidFill>
                <a:latin typeface="Figtree"/>
              </a:rPr>
              <a:t>Everything on the checklist, built in — and it’s exactly what you saw in the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ce Title and Section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4698FFA-655E-454D-A158-0C3E05CCAFBC}" vid="{69F51EBC-5F30-4F66-A145-F2AC637D96DC}"/>
    </a:ext>
  </a:extLst>
</a:theme>
</file>

<file path=ppt/theme/theme2.xml><?xml version="1.0" encoding="utf-8"?>
<a:theme xmlns:a="http://schemas.openxmlformats.org/drawingml/2006/main" name="Solace Content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4698FFA-655E-454D-A158-0C3E05CCAFBC}" vid="{1CE4127A-9A94-457D-8D9C-F9F466792A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A59E3993B10E4CAD93B4C6B6AB4338" ma:contentTypeVersion="18" ma:contentTypeDescription="Create a new document." ma:contentTypeScope="" ma:versionID="b1c352a0e645668a65a42d6a36924e0e">
  <xsd:schema xmlns:xsd="http://www.w3.org/2001/XMLSchema" xmlns:xs="http://www.w3.org/2001/XMLSchema" xmlns:p="http://schemas.microsoft.com/office/2006/metadata/properties" xmlns:ns2="b9684263-5219-44dc-8ace-9e9cf51448b5" xmlns:ns3="c50c4712-2507-4635-8d96-ac0f8ed1146c" targetNamespace="http://schemas.microsoft.com/office/2006/metadata/properties" ma:root="true" ma:fieldsID="0ebac1cb52d4c4ca9196d097ceac5630" ns2:_="" ns3:_="">
    <xsd:import namespace="b9684263-5219-44dc-8ace-9e9cf51448b5"/>
    <xsd:import namespace="c50c4712-2507-4635-8d96-ac0f8ed11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84263-5219-44dc-8ace-9e9cf5144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c4712-2507-4635-8d96-ac0f8ed11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003eb83-64fc-4118-a01e-0346fd43c7c4}" ma:internalName="TaxCatchAll" ma:showField="CatchAllData" ma:web="c50c4712-2507-4635-8d96-ac0f8ed11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c4712-2507-4635-8d96-ac0f8ed1146c" xsi:nil="true"/>
    <lcf76f155ced4ddcb4097134ff3c332f xmlns="b9684263-5219-44dc-8ace-9e9cf51448b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590A90-ABCF-443C-A154-8FE4DFA404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684263-5219-44dc-8ace-9e9cf51448b5"/>
    <ds:schemaRef ds:uri="c50c4712-2507-4635-8d96-ac0f8ed11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471C70-1727-4A93-A528-B2FB0F1E4E8F}">
  <ds:schemaRefs>
    <ds:schemaRef ds:uri="c50c4712-2507-4635-8d96-ac0f8ed1146c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b9684263-5219-44dc-8ace-9e9cf51448b5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9AF0659-183A-43C2-AA7B-C08381F298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Solace Powerpoint Template</Template>
  <TotalTime>0</TotalTime>
  <Words>902</Words>
  <Application>Microsoft Office PowerPoint</Application>
  <PresentationFormat>Widescreen</PresentationFormat>
  <Paragraphs>241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Courier New</vt:lpstr>
      <vt:lpstr>Gill Sans</vt:lpstr>
      <vt:lpstr>Open Sans</vt:lpstr>
      <vt:lpstr>Segoe UI</vt:lpstr>
      <vt:lpstr>Solace Title and Section Slides</vt:lpstr>
      <vt:lpstr>Solace Content Slides</vt:lpstr>
      <vt:lpstr>Solace 2025 Powerpoint Template</vt:lpstr>
      <vt:lpstr>About This Deck Slide Template</vt:lpstr>
      <vt:lpstr>Under the covers, this template includes lots of layouts for you to use!</vt:lpstr>
      <vt:lpstr>Section Title</vt:lpstr>
      <vt:lpstr>PowerPoint Presentation</vt:lpstr>
      <vt:lpstr>Slide Title</vt:lpstr>
      <vt:lpstr>Slide Title</vt:lpstr>
      <vt:lpstr>Sample Charts and Tables</vt:lpstr>
      <vt:lpstr>Tables</vt:lpstr>
      <vt:lpstr>Charts</vt:lpstr>
      <vt:lpstr>Sample Diagrams  Icon Library</vt:lpstr>
      <vt:lpstr>Containers &amp; Connectors</vt:lpstr>
      <vt:lpstr>Simple Topics Diagram</vt:lpstr>
      <vt:lpstr>Simple Observability Diagram</vt:lpstr>
      <vt:lpstr>Simple Event Mesh Diagram</vt:lpstr>
      <vt:lpstr>Simple Broker Connectivity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Menning</dc:creator>
  <cp:lastModifiedBy>Jesse Menning</cp:lastModifiedBy>
  <cp:revision>1</cp:revision>
  <dcterms:created xsi:type="dcterms:W3CDTF">2026-03-20T19:18:26Z</dcterms:created>
  <dcterms:modified xsi:type="dcterms:W3CDTF">2026-03-20T19:19:02Z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0x010100DBA59E3993B10E4CAD93B4C6B6AB4338</vt:lpwstr>
  </property>
  <property fmtid="{D5CDD505-2E9C-101B-9397-08002B2CF9AE}" pid="3" name="MediaServiceImageTags">
    <vt:lpwstr/>
  </property>
</Properties>
</file>